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2_RGB_Barringer__Meteor_Crater_____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1280958"/>
            <a:ext cx="5212080" cy="42960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55448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E8E6DF"/>
                </a:solidFill>
                <a:latin typeface="Cambria"/>
              </a:rPr>
              <a:t>Дистанционное зондирование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E8E6DF"/>
                </a:solidFill>
                <a:latin typeface="Cambria"/>
              </a:rPr>
              <a:t>земных кратеров как инструмент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E8E6DF"/>
                </a:solidFill>
                <a:latin typeface="Cambria"/>
              </a:rPr>
              <a:t>распознавания импактных структур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1">
                <a:solidFill>
                  <a:srgbClr val="E0A458"/>
                </a:solidFill>
                <a:latin typeface="Calibri"/>
              </a:rPr>
              <a:t>Морфометрия по DEM, Sentinel-1 и Sentinel-2: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1">
                <a:solidFill>
                  <a:srgbClr val="E0A458"/>
                </a:solidFill>
                <a:latin typeface="Calibri"/>
              </a:rPr>
              <a:t>Barringer, Lonar, Wolfe Creek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E6DF"/>
                </a:solidFill>
                <a:latin typeface="Calibri"/>
              </a:rPr>
              <a:t>Баканас Е.С.¹˒², Бадак Л.А.²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566928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78D"/>
                </a:solidFill>
                <a:latin typeface="Calibri"/>
              </a:rPr>
              <a:t>¹ Научный центр оперативного мониторинга Земли АО «Российские космические системы», Москва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78D"/>
                </a:solidFill>
                <a:latin typeface="Calibri"/>
              </a:rPr>
              <a:t>² Институт астрономии Российской академии наук, Москва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Зачем изучать ударные кратеры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581912"/>
            <a:ext cx="987552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8E6DF"/>
                </a:solidFill>
                <a:latin typeface="Calibri"/>
              </a:rPr>
              <a:t>Реконструкция геологической истории Земли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532888"/>
            <a:ext cx="502920" cy="50292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8E6DF"/>
                </a:solidFill>
                <a:latin typeface="Calibri"/>
              </a:rPr>
              <a:t>Оценка роли импактных событий в изменении природной среды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465576"/>
            <a:ext cx="502920" cy="502920"/>
          </a:xfrm>
          <a:prstGeom prst="ellipse">
            <a:avLst/>
          </a:prstGeom>
          <a:solidFill>
            <a:srgbClr val="5B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447288"/>
            <a:ext cx="987552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8E6DF"/>
                </a:solidFill>
                <a:latin typeface="Calibri"/>
              </a:rPr>
              <a:t>Изучение свойств астероидов и других малых тел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398264"/>
            <a:ext cx="502920" cy="50292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379976"/>
            <a:ext cx="987552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8E6DF"/>
                </a:solidFill>
                <a:latin typeface="Calibri"/>
              </a:rPr>
              <a:t>Совершенствование методов поиска потенциально опасных объектов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77295" cy="105156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37215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E8E6DF"/>
                </a:solidFill>
                <a:latin typeface="Calibri"/>
              </a:rPr>
              <a:t>Земной реестр импактных структур неполон: многие кратеры разрушены эрозией и тектоникой, перекрыты осадками, растительностью или водой — поэтому выявление и картографирование сохранившихся структур по данным ДЗЗ имеет существенное научное и прикладное значение.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Двухэтапное распознавание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00200"/>
            <a:ext cx="5257800" cy="356616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4767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440E"/>
                </a:solidFill>
                <a:latin typeface="Cambria"/>
              </a:rPr>
              <a:t>Морфология (дистанционно)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34340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C1440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округлая или близкая к округлой форма</a:t>
            </a:r>
          </a:p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C1440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вал и внутренний склон</a:t>
            </a:r>
          </a:p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C1440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террасы</a:t>
            </a:r>
          </a:p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C1440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центральное поднятие или понижение</a:t>
            </a:r>
          </a:p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C1440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зона выбросов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257800" cy="356616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5080" y="1920240"/>
            <a:ext cx="502920" cy="50292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94767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0A458"/>
                </a:solidFill>
                <a:latin typeface="Cambria"/>
              </a:rPr>
              <a:t>Геология (подтверждение)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34340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E0A45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брекчии, конусы разрушения</a:t>
            </a:r>
          </a:p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E0A45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деформации минералов</a:t>
            </a:r>
          </a:p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E0A45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высокобарные полиморфные модификации</a:t>
            </a:r>
          </a:p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E0A45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состав и возраст пород</a:t>
            </a:r>
          </a:p>
          <a:p>
            <a:pPr algn="l">
              <a:lnSpc>
                <a:spcPct val="155000"/>
              </a:lnSpc>
            </a:pPr>
            <a:r>
              <a:rPr sz="1450" b="1" i="0">
                <a:solidFill>
                  <a:srgbClr val="E0A45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E8E6DF"/>
                </a:solidFill>
                <a:latin typeface="Calibri"/>
              </a:rPr>
              <a:t>структура разреза, распределение выбросов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9B978D"/>
                </a:solidFill>
                <a:latin typeface="Calibri"/>
              </a:rPr>
              <a:t>Сходные формы бывают вулканического, тектонического, карстового или эрозионного происхождения — морфология формирует рабочую гипотезу, а окончательная идентификация требует сопоставления с независимыми геологическими данными.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Почему одной морфологии недостаточно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B978D"/>
                </a:solidFill>
                <a:latin typeface="Calibri"/>
              </a:rPr>
              <a:t>И зачем тогда вообще нужен дистанционный этап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887" y="1508760"/>
            <a:ext cx="10789920" cy="109728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487" y="1783080"/>
            <a:ext cx="502920" cy="50292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5287" y="163677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1440E"/>
                </a:solidFill>
                <a:latin typeface="Cambria"/>
              </a:rPr>
              <a:t>Морфология и ДЗЗ (наш этап)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5287" y="2020824"/>
            <a:ext cx="9601200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B8A72"/>
                </a:solidFill>
                <a:latin typeface="Calibri"/>
              </a:rPr>
              <a:t>+  </a:t>
            </a:r>
            <a:r>
              <a:rPr sz="1100" b="0" i="0">
                <a:solidFill>
                  <a:srgbClr val="E8E6DF"/>
                </a:solidFill>
                <a:latin typeface="Calibri"/>
              </a:rPr>
              <a:t>весь земной шар, часы, бесплатно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7A5F"/>
                </a:solidFill>
                <a:latin typeface="Calibri"/>
              </a:rPr>
              <a:t>−  </a:t>
            </a:r>
            <a:r>
              <a:rPr sz="1050" b="0" i="1">
                <a:solidFill>
                  <a:srgbClr val="9B978D"/>
                </a:solidFill>
                <a:latin typeface="Calibri"/>
              </a:rPr>
              <a:t>не доказательство: похожую форму даёт вулканизм и эрозия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3887" y="2743200"/>
            <a:ext cx="8503920" cy="109728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2487" y="3017520"/>
            <a:ext cx="502920" cy="50292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8287" y="287121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0A458"/>
                </a:solidFill>
                <a:latin typeface="Cambria"/>
              </a:rPr>
              <a:t>Геофизика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287" y="3255264"/>
            <a:ext cx="7315200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B8A72"/>
                </a:solidFill>
                <a:latin typeface="Calibri"/>
              </a:rPr>
              <a:t>+  </a:t>
            </a:r>
            <a:r>
              <a:rPr sz="1100" b="0" i="0">
                <a:solidFill>
                  <a:srgbClr val="E8E6DF"/>
                </a:solidFill>
                <a:latin typeface="Calibri"/>
              </a:rPr>
              <a:t>сужает круг кандидатов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7A5F"/>
                </a:solidFill>
                <a:latin typeface="Calibri"/>
              </a:rPr>
              <a:t>−  </a:t>
            </a:r>
            <a:r>
              <a:rPr sz="1050" b="0" i="1">
                <a:solidFill>
                  <a:srgbClr val="9B978D"/>
                </a:solidFill>
                <a:latin typeface="Calibri"/>
              </a:rPr>
              <a:t>тоже не доказательство: аномалию дают и другие тела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6887" y="3977640"/>
            <a:ext cx="6217920" cy="109728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15487" y="4251960"/>
            <a:ext cx="502920" cy="502920"/>
          </a:xfrm>
          <a:prstGeom prst="ellipse">
            <a:avLst/>
          </a:prstGeom>
          <a:solidFill>
            <a:srgbClr val="5B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287" y="41056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B8A72"/>
                </a:solidFill>
                <a:latin typeface="Cambria"/>
              </a:rPr>
              <a:t>Лаборатория (петрография + геохимия)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1287" y="4489704"/>
            <a:ext cx="5029200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B8A72"/>
                </a:solidFill>
                <a:latin typeface="Calibri"/>
              </a:rPr>
              <a:t>+  </a:t>
            </a:r>
            <a:r>
              <a:rPr sz="1100" b="0" i="0">
                <a:solidFill>
                  <a:srgbClr val="E8E6DF"/>
                </a:solidFill>
                <a:latin typeface="Calibri"/>
              </a:rPr>
              <a:t>шлифы под микроскопом, месяцы работы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7A5F"/>
                </a:solidFill>
                <a:latin typeface="Calibri"/>
              </a:rPr>
              <a:t>−  </a:t>
            </a:r>
            <a:r>
              <a:rPr sz="1050" b="0" i="1">
                <a:solidFill>
                  <a:srgbClr val="9B978D"/>
                </a:solidFill>
                <a:latin typeface="Calibri"/>
              </a:rPr>
              <a:t>PDF, шаттер-конусы, коэсит — доказательство (Koeberl, 2004)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57800"/>
            <a:ext cx="11277295" cy="114300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31536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350" b="1" i="0">
                <a:solidFill>
                  <a:srgbClr val="E0A458"/>
                </a:solidFill>
                <a:latin typeface="Calibri"/>
              </a:rPr>
              <a:t>Стоит ли тогда заниматься дистанционным этапом? </a:t>
            </a:r>
            <a:r>
              <a:rPr sz="1350" b="0" i="1">
                <a:solidFill>
                  <a:srgbClr val="E8E6DF"/>
                </a:solidFill>
                <a:latin typeface="Calibri"/>
              </a:rPr>
              <a:t>Да — лабораторная проверка дорога и медленна и не может применяться подряд ко всем потенциальным структурам. Наш метод — быстрый воспроизводимый фильтр, который сужает круг кандидатов для дорогой проверки, а не заменяет её.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Три источника данных ДЗЗ, три роли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C1440E"/>
                </a:solidFill>
                <a:latin typeface="Cambria"/>
              </a:rPr>
              <a:t>Оптика / 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992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9B978D"/>
                </a:solidFill>
                <a:latin typeface="Calibri"/>
              </a:rPr>
              <a:t>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E8E6DF"/>
                </a:solidFill>
                <a:latin typeface="Calibri"/>
              </a:rPr>
              <a:t>состав и степень выветрелости пород, зоны выбросов, нарушенный грунт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2816" y="164592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17136" y="1920240"/>
            <a:ext cx="457200" cy="45720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5603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0A458"/>
                </a:solidFill>
                <a:latin typeface="Cambria"/>
              </a:rPr>
              <a:t>Цифровая модель рельефа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9992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9B978D"/>
                </a:solidFill>
                <a:latin typeface="Calibri"/>
              </a:rPr>
              <a:t>SRTM / GLO-30 / 3DEP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47472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E8E6DF"/>
                </a:solidFill>
                <a:latin typeface="Calibri"/>
              </a:rPr>
              <a:t>форма вала, глубина чаши, крутизна склонов, террасы, степень деградации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920240"/>
            <a:ext cx="457200" cy="457200"/>
          </a:xfrm>
          <a:prstGeom prst="ellipse">
            <a:avLst/>
          </a:prstGeom>
          <a:solidFill>
            <a:srgbClr val="5B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5603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5B8A72"/>
                </a:solidFill>
                <a:latin typeface="Cambria"/>
              </a:rPr>
              <a:t>Радар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992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9B978D"/>
                </a:solidFill>
                <a:latin typeface="Calibri"/>
              </a:rPr>
              <a:t>Sentinel-1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47472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E8E6DF"/>
                </a:solidFill>
                <a:latin typeface="Calibri"/>
              </a:rPr>
              <a:t>шероховатость и текстура поверхности; работает при облачности и без солнечного освещения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11277295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1">
                <a:solidFill>
                  <a:srgbClr val="9B978D"/>
                </a:solidFill>
                <a:latin typeface="Calibri"/>
              </a:rPr>
              <a:t>Развитие глобальных радарных моделей рельефа (включая TanDEM-X) создало возможности для систематического морфометрического анализа известных структур и поиска новых кандидатов (Gottwald et al., 2017).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Наш воспроизводимый конвейер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B978D"/>
                </a:solidFill>
                <a:latin typeface="Calibri"/>
              </a:rPr>
              <a:t>Один и тот же скрипт, применённый без изменений к трём разным кратерам</a:t>
            </a:r>
          </a:p>
        </p:txBody>
      </p:sp>
      <p:sp>
        <p:nvSpPr>
          <p:cNvPr id="4" name="Oval 3"/>
          <p:cNvSpPr/>
          <p:nvPr/>
        </p:nvSpPr>
        <p:spPr>
          <a:xfrm>
            <a:off x="1114013" y="2011680"/>
            <a:ext cx="685800" cy="6858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10906" y="2258568"/>
            <a:ext cx="411480" cy="201168"/>
          </a:xfrm>
          <a:prstGeom prst="rightArrow">
            <a:avLst/>
          </a:prstGeom>
          <a:solidFill>
            <a:srgbClr val="9B9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99942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C1440E"/>
                </a:solidFill>
                <a:latin typeface="Cambria"/>
              </a:rPr>
              <a:t>Координаты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999426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8E6DF"/>
                </a:solidFill>
                <a:latin typeface="Calibri"/>
              </a:rPr>
              <a:t>справочник кратеров или клик по центру на снимке</a:t>
            </a:r>
          </a:p>
        </p:txBody>
      </p:sp>
      <p:sp>
        <p:nvSpPr>
          <p:cNvPr id="8" name="Oval 7"/>
          <p:cNvSpPr/>
          <p:nvPr/>
        </p:nvSpPr>
        <p:spPr>
          <a:xfrm>
            <a:off x="3433479" y="2011680"/>
            <a:ext cx="685800" cy="68580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30372" y="2258568"/>
            <a:ext cx="411480" cy="201168"/>
          </a:xfrm>
          <a:prstGeom prst="rightArrow">
            <a:avLst/>
          </a:prstGeom>
          <a:solidFill>
            <a:srgbClr val="9B9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6666" y="2971800"/>
            <a:ext cx="199942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E07A5F"/>
                </a:solidFill>
                <a:latin typeface="Cambria"/>
              </a:rPr>
              <a:t>N азимутов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6666" y="3520440"/>
            <a:ext cx="1999426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8E6DF"/>
                </a:solidFill>
                <a:latin typeface="Calibri"/>
              </a:rPr>
              <a:t>радиальные лучи вокруг центра кратера</a:t>
            </a:r>
          </a:p>
        </p:txBody>
      </p:sp>
      <p:sp>
        <p:nvSpPr>
          <p:cNvPr id="12" name="Oval 11"/>
          <p:cNvSpPr/>
          <p:nvPr/>
        </p:nvSpPr>
        <p:spPr>
          <a:xfrm>
            <a:off x="5752945" y="2011680"/>
            <a:ext cx="685800" cy="68580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9838" y="2258568"/>
            <a:ext cx="411480" cy="201168"/>
          </a:xfrm>
          <a:prstGeom prst="rightArrow">
            <a:avLst/>
          </a:prstGeom>
          <a:solidFill>
            <a:srgbClr val="9B9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6132" y="2971800"/>
            <a:ext cx="199942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E0A458"/>
                </a:solidFill>
                <a:latin typeface="Cambria"/>
              </a:rPr>
              <a:t>Выборка вдоль лучей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6132" y="3520440"/>
            <a:ext cx="1999426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8E6DF"/>
                </a:solidFill>
                <a:latin typeface="Calibri"/>
              </a:rPr>
              <a:t>DEM + VV/VH (Sentinel-1) + slope + hillshade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8E6DF"/>
                </a:solidFill>
                <a:latin typeface="Calibri"/>
              </a:rPr>
              <a:t>(Google Earth Engine)</a:t>
            </a:r>
          </a:p>
        </p:txBody>
      </p:sp>
      <p:sp>
        <p:nvSpPr>
          <p:cNvPr id="16" name="Oval 15"/>
          <p:cNvSpPr/>
          <p:nvPr/>
        </p:nvSpPr>
        <p:spPr>
          <a:xfrm>
            <a:off x="8072411" y="2011680"/>
            <a:ext cx="685800" cy="685800"/>
          </a:xfrm>
          <a:prstGeom prst="ellipse">
            <a:avLst/>
          </a:prstGeom>
          <a:solidFill>
            <a:srgbClr val="5B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69304" y="2258568"/>
            <a:ext cx="411480" cy="201168"/>
          </a:xfrm>
          <a:prstGeom prst="rightArrow">
            <a:avLst/>
          </a:prstGeom>
          <a:solidFill>
            <a:srgbClr val="9B9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598" y="2971800"/>
            <a:ext cx="199942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5B8A72"/>
                </a:solidFill>
                <a:latin typeface="Cambria"/>
              </a:rPr>
              <a:t>CSV →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598" y="3520440"/>
            <a:ext cx="1999426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8E6DF"/>
                </a:solidFill>
                <a:latin typeface="Calibri"/>
              </a:rPr>
              <a:t>дно, гребень вала, диаметр, глубина,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8E6DF"/>
                </a:solidFill>
                <a:latin typeface="Calibri"/>
              </a:rPr>
              <a:t>индекс округлости</a:t>
            </a:r>
          </a:p>
        </p:txBody>
      </p:sp>
      <p:sp>
        <p:nvSpPr>
          <p:cNvPr id="20" name="Oval 19"/>
          <p:cNvSpPr/>
          <p:nvPr/>
        </p:nvSpPr>
        <p:spPr>
          <a:xfrm>
            <a:off x="10391877" y="2011680"/>
            <a:ext cx="685800" cy="685800"/>
          </a:xfrm>
          <a:prstGeom prst="ellipse">
            <a:avLst/>
          </a:prstGeom>
          <a:solidFill>
            <a:srgbClr val="8A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5064" y="2971800"/>
            <a:ext cx="199942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8A6BB0"/>
                </a:solidFill>
                <a:latin typeface="Cambria"/>
              </a:rPr>
              <a:t>Сопоставление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5064" y="3520440"/>
            <a:ext cx="1999426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8E6DF"/>
                </a:solidFill>
                <a:latin typeface="Calibri"/>
              </a:rPr>
              <a:t>с публикациями и эталонной кривой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E8E6DF"/>
                </a:solidFill>
                <a:latin typeface="Calibri"/>
              </a:rPr>
              <a:t>глубина/диаметр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60"/>
            <a:ext cx="11277295" cy="105156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59552"/>
            <a:ext cx="10637215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E8E6DF"/>
                </a:solidFill>
                <a:latin typeface="Calibri"/>
              </a:rPr>
              <a:t>Источник рельефа выбирается автоматически по приоритету: лидар USGS 3DEP (1 м, США) → Copernicus GLO-30 (~30 м, глобально) → SRTM (запасной вариант).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Кейс 1 — Барринджер (Meteor Crater)</a:t>
            </a:r>
          </a:p>
        </p:txBody>
      </p:sp>
      <p:pic>
        <p:nvPicPr>
          <p:cNvPr id="3" name="Picture 2" descr="case_Barri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178040" cy="3974643"/>
          </a:xfrm>
          <a:prstGeom prst="rect">
            <a:avLst/>
          </a:prstGeom>
        </p:spPr>
      </p:pic>
      <p:pic>
        <p:nvPicPr>
          <p:cNvPr id="4" name="Picture 3" descr="S2_RGB_Barringer__Meteor_Crater_____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22" y="1417320"/>
            <a:ext cx="2607009" cy="2148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09560" y="3703320"/>
            <a:ext cx="3824935" cy="2569464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80" y="3931920"/>
            <a:ext cx="3276295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978D"/>
                </a:solidFill>
                <a:latin typeface="Calibri"/>
              </a:rPr>
              <a:t>Диаметр:  </a:t>
            </a:r>
            <a:r>
              <a:rPr sz="1600" b="1" i="0">
                <a:solidFill>
                  <a:srgbClr val="C1440E"/>
                </a:solidFill>
                <a:latin typeface="Calibri"/>
              </a:rPr>
              <a:t>1200 м</a:t>
            </a:r>
            <a:r>
              <a:rPr sz="1100" b="0" i="1">
                <a:solidFill>
                  <a:srgbClr val="9B978D"/>
                </a:solidFill>
                <a:latin typeface="Calibri"/>
              </a:rPr>
              <a:t>   публ. 1200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4315968"/>
            <a:ext cx="3276295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978D"/>
                </a:solidFill>
                <a:latin typeface="Calibri"/>
              </a:rPr>
              <a:t>Глубина:  </a:t>
            </a:r>
            <a:r>
              <a:rPr sz="1600" b="1" i="0">
                <a:solidFill>
                  <a:srgbClr val="C1440E"/>
                </a:solidFill>
                <a:latin typeface="Calibri"/>
              </a:rPr>
              <a:t>162 м</a:t>
            </a:r>
            <a:r>
              <a:rPr sz="1100" b="0" i="1">
                <a:solidFill>
                  <a:srgbClr val="9B978D"/>
                </a:solidFill>
                <a:latin typeface="Calibri"/>
              </a:rPr>
              <a:t>   публ. 170 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4700016"/>
            <a:ext cx="3276295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978D"/>
                </a:solidFill>
                <a:latin typeface="Calibri"/>
              </a:rPr>
              <a:t>d/D:  </a:t>
            </a:r>
            <a:r>
              <a:rPr sz="1600" b="1" i="0">
                <a:solidFill>
                  <a:srgbClr val="C1440E"/>
                </a:solidFill>
                <a:latin typeface="Calibri"/>
              </a:rPr>
              <a:t>0.135</a:t>
            </a:r>
            <a:r>
              <a:rPr sz="1100" b="0" i="1">
                <a:solidFill>
                  <a:srgbClr val="9B978D"/>
                </a:solidFill>
                <a:latin typeface="Calibri"/>
              </a:rPr>
              <a:t>   публ. 0.142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5175504"/>
            <a:ext cx="327629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1">
                <a:solidFill>
                  <a:srgbClr val="E8E6DF"/>
                </a:solidFill>
                <a:latin typeface="Calibri"/>
              </a:rPr>
              <a:t>Осадочные породы, ~50 тыс. лет. Наилучшее совпадение с публикацией — валидация метода на эталонном объекте.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Кейс 2 — Lonar</a:t>
            </a:r>
          </a:p>
        </p:txBody>
      </p:sp>
      <p:pic>
        <p:nvPicPr>
          <p:cNvPr id="3" name="Picture 2" descr="case_Lo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178040" cy="4006798"/>
          </a:xfrm>
          <a:prstGeom prst="rect">
            <a:avLst/>
          </a:prstGeom>
        </p:spPr>
      </p:pic>
      <p:pic>
        <p:nvPicPr>
          <p:cNvPr id="4" name="Picture 3" descr="S2_RGB_Lonar______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059" y="1417320"/>
            <a:ext cx="2271936" cy="2148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09560" y="3703320"/>
            <a:ext cx="3824935" cy="2569464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80" y="3931920"/>
            <a:ext cx="3276295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978D"/>
                </a:solidFill>
                <a:latin typeface="Calibri"/>
              </a:rPr>
              <a:t>Диаметр:  </a:t>
            </a:r>
            <a:r>
              <a:rPr sz="1600" b="1" i="0">
                <a:solidFill>
                  <a:srgbClr val="5B8A72"/>
                </a:solidFill>
                <a:latin typeface="Calibri"/>
              </a:rPr>
              <a:t>1890 м</a:t>
            </a:r>
            <a:r>
              <a:rPr sz="1100" b="0" i="1">
                <a:solidFill>
                  <a:srgbClr val="9B978D"/>
                </a:solidFill>
                <a:latin typeface="Calibri"/>
              </a:rPr>
              <a:t>   публ. 1830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4315968"/>
            <a:ext cx="3276295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978D"/>
                </a:solidFill>
                <a:latin typeface="Calibri"/>
              </a:rPr>
              <a:t>Глубина:  </a:t>
            </a:r>
            <a:r>
              <a:rPr sz="1600" b="1" i="0">
                <a:solidFill>
                  <a:srgbClr val="5B8A72"/>
                </a:solidFill>
                <a:latin typeface="Calibri"/>
              </a:rPr>
              <a:t>111 м</a:t>
            </a:r>
            <a:r>
              <a:rPr sz="1100" b="0" i="1">
                <a:solidFill>
                  <a:srgbClr val="9B978D"/>
                </a:solidFill>
                <a:latin typeface="Calibri"/>
              </a:rPr>
              <a:t>   публ. ~137 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4700016"/>
            <a:ext cx="3276295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978D"/>
                </a:solidFill>
                <a:latin typeface="Calibri"/>
              </a:rPr>
              <a:t>d/D:  </a:t>
            </a:r>
            <a:r>
              <a:rPr sz="1600" b="1" i="0">
                <a:solidFill>
                  <a:srgbClr val="5B8A72"/>
                </a:solidFill>
                <a:latin typeface="Calibri"/>
              </a:rPr>
              <a:t>0.059</a:t>
            </a:r>
            <a:r>
              <a:rPr sz="1100" b="0" i="1">
                <a:solidFill>
                  <a:srgbClr val="9B978D"/>
                </a:solidFill>
                <a:latin typeface="Calibri"/>
              </a:rPr>
              <a:t>   публ. 0.075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5175504"/>
            <a:ext cx="327629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1">
                <a:solidFill>
                  <a:srgbClr val="E8E6DF"/>
                </a:solidFill>
                <a:latin typeface="Calibri"/>
              </a:rPr>
              <a:t>Базальт (Деканские траппы). Два конфликтующих датирования: ~570 или ~37.5 тыс. лет. Глубина занижена — вероятно, DEM видит поверхность озера в кратере, а не истинное дно.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Кейс 3 — Wolfe Creek</a:t>
            </a:r>
          </a:p>
        </p:txBody>
      </p:sp>
      <p:pic>
        <p:nvPicPr>
          <p:cNvPr id="3" name="Picture 2" descr="case_WolfeCr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178040" cy="4006798"/>
          </a:xfrm>
          <a:prstGeom prst="rect">
            <a:avLst/>
          </a:prstGeom>
        </p:spPr>
      </p:pic>
      <p:pic>
        <p:nvPicPr>
          <p:cNvPr id="4" name="Picture 3" descr="S2_RGB_Wolfe_Creek__________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41" y="1417320"/>
            <a:ext cx="2261372" cy="2148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09560" y="3703320"/>
            <a:ext cx="3824935" cy="2185416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80" y="3931920"/>
            <a:ext cx="3276295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978D"/>
                </a:solidFill>
                <a:latin typeface="Calibri"/>
              </a:rPr>
              <a:t>Диаметр:  </a:t>
            </a:r>
            <a:r>
              <a:rPr sz="1600" b="1" i="0">
                <a:solidFill>
                  <a:srgbClr val="E0A458"/>
                </a:solidFill>
                <a:latin typeface="Calibri"/>
              </a:rPr>
              <a:t>930 м</a:t>
            </a:r>
            <a:r>
              <a:rPr sz="1100" b="0" i="1">
                <a:solidFill>
                  <a:srgbClr val="9B978D"/>
                </a:solidFill>
                <a:latin typeface="Calibri"/>
              </a:rPr>
              <a:t>   публ. 892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4315968"/>
            <a:ext cx="3276295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B978D"/>
                </a:solidFill>
                <a:latin typeface="Calibri"/>
              </a:rPr>
              <a:t>Глубина:  </a:t>
            </a:r>
            <a:r>
              <a:rPr sz="1600" b="1" i="0">
                <a:solidFill>
                  <a:srgbClr val="E0A458"/>
                </a:solidFill>
                <a:latin typeface="Calibri"/>
              </a:rPr>
              <a:t>46 м</a:t>
            </a:r>
            <a:r>
              <a:rPr sz="1100" b="0" i="1">
                <a:solidFill>
                  <a:srgbClr val="9B978D"/>
                </a:solidFill>
                <a:latin typeface="Calibri"/>
              </a:rPr>
              <a:t>   публ. 178 м*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4791456"/>
            <a:ext cx="327629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1">
                <a:solidFill>
                  <a:srgbClr val="E8E6DF"/>
                </a:solidFill>
                <a:latin typeface="Calibri"/>
              </a:rPr>
              <a:t>Песчаник, ~120 тыс. лет. *Исходная глубина по публикации — кратер занесён ~120 м песка; наш профиль отражает современную, а не исходную форму.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Радар видит вал независимо от освещения и облачности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B978D"/>
                </a:solidFill>
                <a:latin typeface="Calibri"/>
              </a:rPr>
              <a:t>Sentinel-1, среднее VV на валу против дна кратера</a:t>
            </a:r>
          </a:p>
        </p:txBody>
      </p:sp>
      <p:pic>
        <p:nvPicPr>
          <p:cNvPr id="4" name="Picture 3" descr="S1_VVVH_Barringer__Meteor_Crater_____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13" y="1691640"/>
            <a:ext cx="3489391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81728"/>
            <a:ext cx="357621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E6DF"/>
                </a:solidFill>
                <a:latin typeface="Cambria"/>
              </a:rPr>
              <a:t>Барринджер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74920"/>
            <a:ext cx="357621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1440E"/>
                </a:solidFill>
                <a:latin typeface="Cambria"/>
              </a:rPr>
              <a:t>+6.9 дБ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87568"/>
            <a:ext cx="357621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978D"/>
                </a:solidFill>
                <a:latin typeface="Calibri"/>
              </a:rPr>
              <a:t>вал ярче дна (VV)</a:t>
            </a:r>
          </a:p>
        </p:txBody>
      </p:sp>
      <p:pic>
        <p:nvPicPr>
          <p:cNvPr id="8" name="Picture 7" descr="S1_VVVH_Lonar______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063" y="1691640"/>
            <a:ext cx="3045567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07738" y="4681728"/>
            <a:ext cx="357621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E6DF"/>
                </a:solidFill>
                <a:latin typeface="Cambria"/>
              </a:rPr>
              <a:t>Lonar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7738" y="5074920"/>
            <a:ext cx="357621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5B8A72"/>
                </a:solidFill>
                <a:latin typeface="Cambria"/>
              </a:rPr>
              <a:t>+12.3 дБ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7738" y="5687568"/>
            <a:ext cx="357621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978D"/>
                </a:solidFill>
                <a:latin typeface="Calibri"/>
              </a:rPr>
              <a:t>вал ярче дна (VV)</a:t>
            </a:r>
          </a:p>
        </p:txBody>
      </p:sp>
      <p:pic>
        <p:nvPicPr>
          <p:cNvPr id="12" name="Picture 11" descr="S1_VVVH_Wolfe_Creek__________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554" y="1691640"/>
            <a:ext cx="3023661" cy="2880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58276" y="4681728"/>
            <a:ext cx="357621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E6DF"/>
                </a:solidFill>
                <a:latin typeface="Cambria"/>
              </a:rPr>
              <a:t>Wolfe Creek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5074920"/>
            <a:ext cx="357621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0A458"/>
                </a:solidFill>
                <a:latin typeface="Cambria"/>
              </a:rPr>
              <a:t>+9.3 дБ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5687568"/>
            <a:ext cx="357621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978D"/>
                </a:solidFill>
                <a:latin typeface="Calibri"/>
              </a:rPr>
              <a:t>вал ярче дна (VV)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Радар vs оптика для кратеров: что уже сделано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B978D"/>
                </a:solidFill>
                <a:latin typeface="Calibri"/>
              </a:rPr>
              <a:t>Наш простой VV/VH — базовый вариант давно известного принципа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5257800" cy="379476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C1440E"/>
                </a:solidFill>
                <a:latin typeface="Cambria"/>
              </a:rPr>
              <a:t>SIR-C/X-SAR, 1994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2199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9B978D"/>
                </a:solidFill>
                <a:latin typeface="Calibri"/>
              </a:rPr>
              <a:t>McHone et al., 2002, Meteoritics &amp; Planetary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4617720" cy="2560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E8E6DF"/>
                </a:solidFill>
                <a:latin typeface="Calibri"/>
              </a:rPr>
              <a:t>10 кратеров радаром, в т.ч. наш Wolfe Creek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B978D"/>
                </a:solidFill>
                <a:latin typeface="Calibri"/>
              </a:rPr>
              <a:t>методы: L/C/X-диапазоны, поляризация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E8E6D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6DF"/>
                </a:solidFill>
                <a:latin typeface="Calibri"/>
              </a:rPr>
              <a:t>Aorounga (Чад): на оптике — кольцо ~11 км;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6DF"/>
                </a:solidFill>
                <a:latin typeface="Calibri"/>
              </a:rPr>
              <a:t>радар вскрыл погребённое под песком второе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6DF"/>
                </a:solidFill>
                <a:latin typeface="Calibri"/>
              </a:rPr>
              <a:t>кольцо диаметром &gt;17 км, невидимое в оптике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00200"/>
            <a:ext cx="5257800" cy="379476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5B8A72"/>
                </a:solidFill>
                <a:latin typeface="Cambria"/>
              </a:rPr>
              <a:t>ALOS PALSAR-2,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2199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9B978D"/>
                </a:solidFill>
                <a:latin typeface="Calibri"/>
              </a:rPr>
              <a:t>van Gasselt et al., Earth, Planets and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4617720" cy="2560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E8E6DF"/>
                </a:solidFill>
                <a:latin typeface="Calibri"/>
              </a:rPr>
              <a:t>Структура Oasis, Ливия (сильно эродирована)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B978D"/>
                </a:solidFill>
                <a:latin typeface="Calibri"/>
              </a:rPr>
              <a:t>методы: L-диапазон, амплитуда, фазовая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B978D"/>
                </a:solidFill>
                <a:latin typeface="Calibri"/>
              </a:rPr>
              <a:t>когерентность, поляриметрическая декомпозиция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E8E6D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6DF"/>
                </a:solidFill>
                <a:latin typeface="Calibri"/>
              </a:rPr>
              <a:t>Раскрыли подповерхностное напластование и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6DF"/>
                </a:solidFill>
                <a:latin typeface="Calibri"/>
              </a:rPr>
              <a:t>палеорусло реки — размытые/невидимые на Landsat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577840"/>
            <a:ext cx="11277295" cy="96012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0585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1">
                <a:solidFill>
                  <a:srgbClr val="E8E6DF"/>
                </a:solidFill>
                <a:latin typeface="Calibri"/>
              </a:rPr>
              <a:t>Общий вывод этой литературы: длинноволновый (L-диапазон) радар проникает сквозь сухой песок и вскрывает погребённые структуры, невидимые в оптике. Наш анализ (C-диапазон Sentinel-1, медиана VV/VH) проще и не видит сквозь грунт — это базовый поверхностный сигнал шероховатости вала; следующий шаг — поляриметрия и L-диапазон (ALOS-2, NISAR).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Наши измерения vs публикации vs эталон свежих кратеров</a:t>
            </a:r>
          </a:p>
        </p:txBody>
      </p:sp>
      <p:pic>
        <p:nvPicPr>
          <p:cNvPr id="3" name="Picture 2" descr="crater_geolog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59" y="1417320"/>
            <a:ext cx="650837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Что метод пока не может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581912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C1440E"/>
                </a:solidFill>
                <a:latin typeface="Calibri"/>
              </a:rPr>
              <a:t>Разрешение DEM — </a:t>
            </a:r>
            <a:r>
              <a:rPr sz="1400" b="0" i="0">
                <a:solidFill>
                  <a:srgbClr val="E8E6DF"/>
                </a:solidFill>
                <a:latin typeface="Calibri"/>
              </a:rPr>
              <a:t>30 м/пиксель не резолвит кратеры мельче ~500 м (Kaali, 110 м — использованы только опубликованные данные)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624328"/>
            <a:ext cx="502920" cy="50292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060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E0A458"/>
                </a:solidFill>
                <a:latin typeface="Calibri"/>
              </a:rPr>
              <a:t>Не заменяет полевую геологию — </a:t>
            </a:r>
            <a:r>
              <a:rPr sz="1400" b="0" i="0">
                <a:solidFill>
                  <a:srgbClr val="E8E6DF"/>
                </a:solidFill>
                <a:latin typeface="Calibri"/>
              </a:rPr>
              <a:t>определяет морфологию и радарный/рельефный сигнал, но не шоковый метаморфизм, брекчии, состав пород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648456"/>
            <a:ext cx="502920" cy="502920"/>
          </a:xfrm>
          <a:prstGeom prst="ellipse">
            <a:avLst/>
          </a:prstGeom>
          <a:solidFill>
            <a:srgbClr val="5B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630168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5B8A72"/>
                </a:solidFill>
                <a:latin typeface="Calibri"/>
              </a:rPr>
              <a:t>Точность справочника координат — </a:t>
            </a:r>
            <a:r>
              <a:rPr sz="1400" b="0" i="0">
                <a:solidFill>
                  <a:srgbClr val="E8E6DF"/>
                </a:solidFill>
                <a:latin typeface="Calibri"/>
              </a:rPr>
              <a:t>каталожные координаты ориентировочные — нужна ручная проверка (реализовано: клик по центру на снимке)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672584"/>
            <a:ext cx="502920" cy="50292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54296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E07A5F"/>
                </a:solidFill>
                <a:latin typeface="Calibri"/>
              </a:rPr>
              <a:t>Озёра и осадочные заполнения — </a:t>
            </a:r>
            <a:r>
              <a:rPr sz="1400" b="0" i="0">
                <a:solidFill>
                  <a:srgbClr val="E8E6DF"/>
                </a:solidFill>
                <a:latin typeface="Calibri"/>
              </a:rPr>
              <a:t>искажают измеренную глубину относительно исходной формы кратера — нужна геологическая интерпретация отклонений, а не только цифра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Выводы и практическая ценность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7276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E8E6DF"/>
                </a:solidFill>
                <a:latin typeface="Calibri"/>
              </a:rPr>
              <a:t>Единый воспроизводимый скрипт применён без изменений к трём кратерам разного возраста и типа мишени (осадочные породы, базальт, песчаник)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532888"/>
            <a:ext cx="457200" cy="45720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05456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E8E6DF"/>
                </a:solidFill>
                <a:latin typeface="Calibri"/>
              </a:rPr>
              <a:t>Метод валидирован на Барринджере (расхождение с публикацией &lt; 5%); интерпретируемые расхождения на Lonar и Wolfe Creek объясняются геологией (озеро, занесение осадком)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465576"/>
            <a:ext cx="457200" cy="4572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38144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E8E6DF"/>
                </a:solidFill>
                <a:latin typeface="Calibri"/>
              </a:rPr>
              <a:t>Радар (Sentinel-1) количественно подтверждает морфологический сигнал вала независимо от освещения, облачности и типа породы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398264"/>
            <a:ext cx="457200" cy="45720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0203C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70832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E8E6DF"/>
                </a:solidFill>
                <a:latin typeface="Calibri"/>
              </a:rPr>
              <a:t>ДЗЗ — инструмент обнаружения, картографирования и дистанционной проверки согласованности признаков, но не замена полевой и лабораторной верификации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77295" cy="1005840"/>
          </a:xfrm>
          <a:prstGeom prst="roundRect">
            <a:avLst>
              <a:gd name="adj" fmla="val 4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637215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E0A458"/>
                </a:solidFill>
                <a:latin typeface="Calibri"/>
              </a:rPr>
              <a:t>Дальше: добавить кратеры с неопределённым происхождением, расширить географию, автоматизировать первичное детектирование кандидатов.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E6DF"/>
                </a:solidFill>
                <a:latin typeface="Cambria"/>
              </a:rPr>
              <a:t>Литература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5455767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>1. Koeberl C. Remote sensing studies of impact craters: how to be sure? // Comptes Rendus Geoscience. 2004.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>2. Gottwald M., et al. Remote sensing of terrestrial impact craters: The TanDEM-X digital elevation model // Meteoritics &amp; Planetary Science. 2017.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>3. Kring D. A. Guidebook to the Geology of Barringer Meteorite Crater, Arizona. 2nd ed. Houston: Lunar and Planetary Institute, 2017.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00200"/>
            <a:ext cx="5455767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>4. Creation of High Resolution Terrain Models of Barringer Meteorite Crater (Meteor Crater) Using Photogrammetry and Terrestrial Laser Scanning Methods. NASA NTRS, 2009.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>5. McHone J. F., et al. Space shuttle observations of terrestrial impact structures using SIR-C and X-SAR radars // Meteoritics &amp; Planetary Science. 2002.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8E6DF"/>
                </a:solidFill>
                <a:latin typeface="Calibri"/>
              </a:rPr>
              <a:t>6. van Gasselt S., et al. The Oasis impact structure, Libya: geological characteristics from ALOS PALSAR-2 data interpretation // Earth, Planets and Space. 2017.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9B978D"/>
                </a:solidFill>
                <a:latin typeface="Calibri"/>
              </a:rPr>
              <a:t>Ключевые слова: дистанционное зондирование Земли, импактные структуры, ударные кратеры, кратер Бэрринджера, Sentinel-1, Sentinel-2, цифровая модель рельефа, радиолокационные данные.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1440E"/>
                </a:solidFill>
                <a:latin typeface="Cambria"/>
              </a:rPr>
              <a:t>Спасибо за внимание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B978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