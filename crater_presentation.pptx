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_RGB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280958"/>
            <a:ext cx="5212080" cy="42960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Дистанционное зондирование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земных кратеров как инструмент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распознавания импактных структур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Морфометрия по DEM, Sentinel-1 и Sentinel-2: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Barringer, Lonar, Wolfe Creek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libri"/>
              </a:rPr>
              <a:t>Баканас Е.С.¹˒², Бадак Л.А.²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56692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¹ Научный центр оперативного мониторинга Земли АО «Российские космические системы», Москва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² Институт астрономии Российской академии наук, 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Зачем изучать ударные кратеры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Реконструкция геологической истории Земли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Оценка роли импактных событий в изменении природной среды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47288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Изучение свойств астероидов и других малых тел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379976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Совершенствование методов поиска потенциально опасных объектов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E8E6DF"/>
                </a:solidFill>
                <a:latin typeface="Calibri"/>
              </a:rPr>
              <a:t>Земной реестр импактных структур неполон: многие кратеры разрушены эрозией и тектоникой, перекрыты осадками, растительностью или водой — поэтому выявление и картографирование сохранившихся структур по данным ДЗЗ имеет существенное научное и прикладное значение.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Двухэтапное распознавание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1440E"/>
                </a:solidFill>
                <a:latin typeface="Cambria"/>
              </a:rPr>
              <a:t>Морфология (дистанционно)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округлая или близкая к округлой форма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вал и внутренний склон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террасы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центральное поднятие или понижение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зона выбросов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1920240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A458"/>
                </a:solidFill>
                <a:latin typeface="Cambria"/>
              </a:rPr>
              <a:t>Геология (подтверждение)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брекчии, конусы разрушения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деформации минералов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высокобарные полиморфные модификации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состав и возраст пород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структура разреза, распределение выбросов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9B978D"/>
                </a:solidFill>
                <a:latin typeface="Calibri"/>
              </a:rPr>
              <a:t>Сходные формы бывают вулканического, тектонического, карстового или эрозионного происхождения — морфология формирует рабочую гипотезу, а окончательная идентификация требует сопоставления с независимыми геологическими данными.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Три источника данных ДЗЗ, три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C1440E"/>
                </a:solidFill>
                <a:latin typeface="Cambria"/>
              </a:rPr>
              <a:t>Оптика / 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состав и степень выветрелости пород, зоны выбросов, нарушенный грунт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17136" y="1920240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0A458"/>
                </a:solidFill>
                <a:latin typeface="Cambria"/>
              </a:rPr>
              <a:t>Цифровая модель рельефа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SRTM / GLO-30 / 3DEP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форма вала, глубина чаши, крутизна склонов, террасы, степень деградации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5B8A72"/>
                </a:solidFill>
                <a:latin typeface="Cambria"/>
              </a:rPr>
              <a:t>Радар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шероховатость и текстура поверхности; работает при облачности и без солнечного освещения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66360"/>
            <a:ext cx="11277295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9B978D"/>
                </a:solidFill>
                <a:latin typeface="Calibri"/>
              </a:rPr>
              <a:t>Развитие глобальных радарных моделей рельефа (включая TanDEM-X) создало возможности для систематического морфометрического анализа известных структур и поиска новых кандидатов (Gottwald et al., 2017).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 воспроизводимый конвейер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Один и тот же скрипт, применённый без изменений к трём разным кратерам</a:t>
            </a:r>
          </a:p>
        </p:txBody>
      </p:sp>
      <p:sp>
        <p:nvSpPr>
          <p:cNvPr id="4" name="Oval 3"/>
          <p:cNvSpPr/>
          <p:nvPr/>
        </p:nvSpPr>
        <p:spPr>
          <a:xfrm>
            <a:off x="1114013" y="2011680"/>
            <a:ext cx="685800" cy="6858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10906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C1440E"/>
                </a:solidFill>
                <a:latin typeface="Cambria"/>
              </a:rPr>
              <a:t>Координаты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справочник кратеров или клик по центру на снимке</a:t>
            </a:r>
          </a:p>
        </p:txBody>
      </p:sp>
      <p:sp>
        <p:nvSpPr>
          <p:cNvPr id="8" name="Oval 7"/>
          <p:cNvSpPr/>
          <p:nvPr/>
        </p:nvSpPr>
        <p:spPr>
          <a:xfrm>
            <a:off x="3433479" y="2011680"/>
            <a:ext cx="685800" cy="68580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0372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6666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7A5F"/>
                </a:solidFill>
                <a:latin typeface="Cambria"/>
              </a:rPr>
              <a:t>N азимутов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6666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радиальные лучи вокруг центра кратера</a:t>
            </a:r>
          </a:p>
        </p:txBody>
      </p:sp>
      <p:sp>
        <p:nvSpPr>
          <p:cNvPr id="12" name="Oval 11"/>
          <p:cNvSpPr/>
          <p:nvPr/>
        </p:nvSpPr>
        <p:spPr>
          <a:xfrm>
            <a:off x="5752945" y="2011680"/>
            <a:ext cx="685800" cy="6858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9838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6132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A458"/>
                </a:solidFill>
                <a:latin typeface="Cambria"/>
              </a:rPr>
              <a:t>Выборка вдоль лучей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2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DEM + VV/VH (Sentinel-1) + slope + hillshade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(Google Earth Engine)</a:t>
            </a:r>
          </a:p>
        </p:txBody>
      </p:sp>
      <p:sp>
        <p:nvSpPr>
          <p:cNvPr id="16" name="Oval 15"/>
          <p:cNvSpPr/>
          <p:nvPr/>
        </p:nvSpPr>
        <p:spPr>
          <a:xfrm>
            <a:off x="8072411" y="2011680"/>
            <a:ext cx="685800" cy="6858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69304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598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5B8A72"/>
                </a:solidFill>
                <a:latin typeface="Cambria"/>
              </a:rPr>
              <a:t>CSV →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598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дно, гребень вала, диаметр, глубина,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индекс округлости</a:t>
            </a:r>
          </a:p>
        </p:txBody>
      </p:sp>
      <p:sp>
        <p:nvSpPr>
          <p:cNvPr id="20" name="Oval 19"/>
          <p:cNvSpPr/>
          <p:nvPr/>
        </p:nvSpPr>
        <p:spPr>
          <a:xfrm>
            <a:off x="10391877" y="2011680"/>
            <a:ext cx="685800" cy="685800"/>
          </a:xfrm>
          <a:prstGeom prst="ellipse">
            <a:avLst/>
          </a:prstGeom>
          <a:solidFill>
            <a:srgbClr val="8A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5064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8A6BB0"/>
                </a:solidFill>
                <a:latin typeface="Cambria"/>
              </a:rPr>
              <a:t>Сопоставление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5064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 публикациями и эталонной кривой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глубина/диаметр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8E6DF"/>
                </a:solidFill>
                <a:latin typeface="Calibri"/>
              </a:rPr>
              <a:t>Источник рельефа выбирается автоматически по приоритету: лидар USGS 3DEP (1 м, США) → Copernicus GLO-30 (~30 м, глобально) → SRTM (запасной вариант).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1 — Барринджер (Meteor Crater)</a:t>
            </a:r>
          </a:p>
        </p:txBody>
      </p:sp>
      <p:pic>
        <p:nvPicPr>
          <p:cNvPr id="3" name="Picture 2" descr="case_Barri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3974643"/>
          </a:xfrm>
          <a:prstGeom prst="rect">
            <a:avLst/>
          </a:prstGeom>
        </p:spPr>
      </p:pic>
      <p:pic>
        <p:nvPicPr>
          <p:cNvPr id="4" name="Picture 3" descr="S2_RGB_Barringer__Meteor_Crater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22" y="1417320"/>
            <a:ext cx="2607009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1200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1200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162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170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0.135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0.142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Осадочные породы, ~50 тыс. лет. Наилучшее совпадение с публикацией — валидация метода на эталонном объекте.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2 — Lonar</a:t>
            </a:r>
          </a:p>
        </p:txBody>
      </p:sp>
      <p:pic>
        <p:nvPicPr>
          <p:cNvPr id="3" name="Picture 2" descr="case_Lo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59" y="1417320"/>
            <a:ext cx="2271936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1785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1830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~137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0.056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Базальт (Деканские траппы). Два конфликтующих датирования: ~570 или ~37.5 тыс. лет. Глубина занижена — вероятно, DEM видит поверхность озера в кратере, а не истинное дно.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3 — Wolfe Creek</a:t>
            </a:r>
          </a:p>
        </p:txBody>
      </p:sp>
      <p:pic>
        <p:nvPicPr>
          <p:cNvPr id="3" name="Picture 2" descr="case_WolfeCr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Wolfe_Creek____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41" y="1417320"/>
            <a:ext cx="2261372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185416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900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892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45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178 м*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91456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Песчаник, ~120 тыс. лет. *Исходная глубина по публикации — кратер занесён ~120 м песка; наш профиль отражает современную, а не исходную форму.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Радар видит вал независимо от освещения и облачности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Sentinel-1, среднее VV на валу против дна кратера</a:t>
            </a:r>
          </a:p>
        </p:txBody>
      </p:sp>
      <p:pic>
        <p:nvPicPr>
          <p:cNvPr id="4" name="Picture 3" descr="S1_VVVH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3" y="1691640"/>
            <a:ext cx="3489391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Барринджер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1440E"/>
                </a:solidFill>
                <a:latin typeface="Cambria"/>
              </a:rPr>
              <a:t>+6.9 дБ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8" name="Picture 7" descr="S1_VVVH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063" y="1691640"/>
            <a:ext cx="3045567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07738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Lonar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738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B8A72"/>
                </a:solidFill>
                <a:latin typeface="Cambria"/>
              </a:rPr>
              <a:t>+12.3 дБ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12" name="Picture 11" descr="S1_VVVH_Wolfe_Creek___________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554" y="1691640"/>
            <a:ext cx="3023661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58276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Wolfe Creek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+9.3 дБ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Наши измерения vs публикации vs эталон свежих кратеров</a:t>
            </a:r>
          </a:p>
        </p:txBody>
      </p:sp>
      <p:pic>
        <p:nvPicPr>
          <p:cNvPr id="3" name="Picture 2" descr="crater_ge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59" y="1417320"/>
            <a:ext cx="650837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Что метод пока не может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C1440E"/>
                </a:solidFill>
                <a:latin typeface="Calibri"/>
              </a:rPr>
              <a:t>Разрешение DEM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30 м/пиксель не резолвит кратеры мельче ~500 м (Kaali, 110 м — использованы только опубликованные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62432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060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A458"/>
                </a:solidFill>
                <a:latin typeface="Calibri"/>
              </a:rPr>
              <a:t>Не заменяет полевую геологию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определяет морфологию и радарный/рельефный сигнал, но не шоковый метаморфизм, брекчии, состав пород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64845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630168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5B8A72"/>
                </a:solidFill>
                <a:latin typeface="Calibri"/>
              </a:rPr>
              <a:t>Точность справочника координат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каталожные координаты ориентировочные — нужна ручная проверка (реализовано: клик по центру на снимке)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67258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5429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7A5F"/>
                </a:solidFill>
                <a:latin typeface="Calibri"/>
              </a:rPr>
              <a:t>Озёра и осадочные заполнения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искажают измеренную глубину относительно исходной формы кратера — нужна геологическая интерпретация отклонений, а не только цифра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Выводы и практическая ценность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572768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Единый воспроизводимый скрипт применён без изменений к трём кратерам разного возраста и типа мишени (осадочные породы, базальт, песчаник)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05456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Метод валидирован на Барринджере (расхождение с публикацией &lt; 5%); интерпретируемые расхождения на Lonar и Wolfe Creek объясняются геологией (озеро, занесение осадком)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3814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Радар (Sentinel-1) количественно подтверждает морфологический сигнал вала независимо от освещения, облачности и типа породы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708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ДЗЗ — инструмент обнаружения, картографирования и дистанционной проверки согласованности признаков, но не замена полевой и лабораторной верификации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0584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0A458"/>
                </a:solidFill>
                <a:latin typeface="Calibri"/>
              </a:rPr>
              <a:t>Дальше: добавить кратеры с неопределённым происхождением, расширить географию, автоматизировать первичное детектирование кандидатов.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Литература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1. Koeberl C. Remote sensing studies of impact craters: how to be sure? // Comptes Rendus Geoscience. 2004.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2. Gottwald M., et al. Remote sensing of terrestrial impact craters: The TanDEM-X digital elevation model // Meteoritics &amp; Planetary Science.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3. Kring D. A. Guidebook to the Geology of Barringer Meteorite Crater, Arizona. 2nd ed. Houston: Lunar and Planetary Institute,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4. Creation of High Resolution Terrain Models of Barringer Meteorite Crater (Meteor Crater) Using Photogrammetry and Terrestrial Laser Scanning Methods. NASA NTRS, 2009.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Ключевые слова: дистанционное зондирование Земли, импактные структуры, ударные кратеры, кратер Бэрринджера, Sentinel-1, Sentinel-2, цифровая модель рельефа, радиолокационные данные.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1440E"/>
                </a:solidFill>
                <a:latin typeface="Cambria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